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mias nigusie" userId="e0bb3f1af11d740b" providerId="LiveId" clId="{B8171E1E-EAE7-45F2-9183-43FF139F2CE8}"/>
    <pc:docChg chg="custSel modSld">
      <pc:chgData name="ermias nigusie" userId="e0bb3f1af11d740b" providerId="LiveId" clId="{B8171E1E-EAE7-45F2-9183-43FF139F2CE8}" dt="2026-09-18T21:53:11.044" v="26" actId="20577"/>
      <pc:docMkLst>
        <pc:docMk/>
      </pc:docMkLst>
      <pc:sldChg chg="modSp mod">
        <pc:chgData name="ermias nigusie" userId="e0bb3f1af11d740b" providerId="LiveId" clId="{B8171E1E-EAE7-45F2-9183-43FF139F2CE8}" dt="2026-09-18T21:53:11.044" v="26" actId="20577"/>
        <pc:sldMkLst>
          <pc:docMk/>
          <pc:sldMk cId="0" sldId="256"/>
        </pc:sldMkLst>
        <pc:spChg chg="mod">
          <ac:chgData name="ermias nigusie" userId="e0bb3f1af11d740b" providerId="LiveId" clId="{B8171E1E-EAE7-45F2-9183-43FF139F2CE8}" dt="2026-09-18T21:53:11.044" v="26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delSp modSp mod">
        <pc:chgData name="ermias nigusie" userId="e0bb3f1af11d740b" providerId="LiveId" clId="{B8171E1E-EAE7-45F2-9183-43FF139F2CE8}" dt="2026-09-18T21:52:12.013" v="3" actId="21"/>
        <pc:sldMkLst>
          <pc:docMk/>
          <pc:sldMk cId="0" sldId="270"/>
        </pc:sldMkLst>
        <pc:spChg chg="del">
          <ac:chgData name="ermias nigusie" userId="e0bb3f1af11d740b" providerId="LiveId" clId="{B8171E1E-EAE7-45F2-9183-43FF139F2CE8}" dt="2026-09-18T21:52:12.013" v="3" actId="21"/>
          <ac:spMkLst>
            <pc:docMk/>
            <pc:sldMk cId="0" sldId="270"/>
            <ac:spMk id="4" creationId="{00000000-0000-0000-0000-000000000000}"/>
          </ac:spMkLst>
        </pc:spChg>
        <pc:spChg chg="add del mod">
          <ac:chgData name="ermias nigusie" userId="e0bb3f1af11d740b" providerId="LiveId" clId="{B8171E1E-EAE7-45F2-9183-43FF139F2CE8}" dt="2026-09-18T21:52:08.478" v="2"/>
          <ac:spMkLst>
            <pc:docMk/>
            <pc:sldMk cId="0" sldId="270"/>
            <ac:spMk id="5" creationId="{C53A9169-7ED5-834E-8C40-374AA9FE30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39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371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</a:rPr>
              <a:t>ADAMA SCIENCE &amp; TECHNOLOGY UNIVERSITY (ASTU)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Automated Institutional Stock &amp; Property Management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33832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Digitalizing Public Property Governance in Compliance with Federal Directive No. 1095/2017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</a:rPr>
              <a:t>Technical Architecture, Operational Workflows &amp; Internship Engineering Report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502920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AA520"/>
                </a:solidFill>
              </a:rPr>
              <a:t>Presenter: Ermias Nigussie   |  Host Directorate: ASTU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ASTU STOCK &amp; PROPERTY MANAGEMENT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Executive Summary &amp; ASTU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91B1B"/>
                </a:solidFill>
              </a:rPr>
              <a:t>The Traditional Manual Challenges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Uncontrolled Receiving: Uninspected supplier items mixed with active stock before technical verification.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Separation of Duties Breaches: Administrators performing physical inspections rather than qualified technical committees.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Lost Paper Trail: Manual multi-copy carbon papers (Model 19, 20) lost or delayed between stores and finance.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Inaccurate Valuations: Lack of perpetual FIFO costing leading to discrepancies with General Ledger during annual audits.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Audit Exposure: Severe audit findings by the Federal Auditor General (OFAG) regarding public asset custody.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534"/>
                </a:solidFill>
              </a:rPr>
              <a:t>The Automated SMS Solution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Directive 1095/2017 Compliance: Strictly encodes every federal model form and approval sequence.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4-Copy Carbonless Model 19: Role-based color tinting (Finance White, Store Yellow, PAO Blue, Supplier Green).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Multi-Member TEC Voting: Multi-specialist independent technical evaluation with Form TEC-01 acceptance dossiers.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Real-Time Stock Cards: Perpetual FIFO valuation updating on-hand, allocated, and available balances automatically.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End-to-End Traceability: From supplier delivery and quarantine to employee asset custody and gate pass clearance.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DUTIES &amp;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My Internship Role &amp; Specific Engineering Contributions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212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</a:rPr>
              <a:t>1. Federal Model 19 4-Copy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Engineered official bilingual Model 19 with 4 statutory color-coded copies (Finance White, Store Yellow, PAO Blue, Supplier Green). Built single-copy and 4-copy batch printing engines with automated currency number-to-words conversion.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212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2. Multi-Member TEC Inspection Workflow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Re-architected the inspection module from a single-user action into a multi-specialist Technical Evaluation Committee with sequential independent voting, consensus calculation, and Form TEC-01 digital dossiers.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57"/>
                </a:solidFill>
              </a:rPr>
              <a:t>3. Provisional Inward Voucher (RCV)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526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Eliminated illegal premature stock posting by introducing the Provisional Inward Receiving Voucher (ጊዜያዊ የዕቃ መቀበያ ሰነድ - RCV) ensuring deliveries remain in quarantine until authorized by PAO.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931920"/>
            <a:ext cx="52120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AA520"/>
                </a:solidFill>
              </a:rPr>
              <a:t>4. Full-Stack Robustness &amp; Bug Elimination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4526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Resolved critical runtime crashes in Material Evaluation caused by Prisma Decimal type mismatches. Authored transactional backend services ensuring atomic stock balance integrity.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System Architecture &amp; Enterprise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Frontend Client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React 18 &amp; TypeScript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Vite fast development server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Vanilla CSS modular design tokens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Optimistic UI state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Bilingual typography (Amharic &amp; English)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5166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Print media CSS layout rules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Backend API &amp; Logic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Node.js (v20+) &amp; Express REST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JWT stateless token authentication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Role-Based Access Control (RBAC)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Multi-member committee voting engine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Automated audit logging middleware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166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Security headers, CORS &amp; rate limiters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57"/>
                </a:solidFill>
              </a:rPr>
              <a:t>Database &amp; Persistence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2194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PostgreSQL Enterprise Database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Prisma ORM 5 type-safe queries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0" y="3383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ACID compliance via $transaction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45 interconnected relational models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572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FIFO perpetual stock valuation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0" y="5166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Automated schema migrations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ACCESS CONTROL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User Roles &amp; Separation of Duties Matrix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Requester (ጠያቂ)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Department staff submitting material requisitions for work tasks.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Model 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Department Head (የክፍል ኃላፊ)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1938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Reviews &amp; approves departmental requisitions based on work plan.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Model 23 Endorsement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Storekeeper (የመጋዘን ኃላፊ)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83880" y="19385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Unloads shipments, issues RCV, logs Copy 2 Yellow Model 19, posts Bin Cards, issues SIV.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838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RCV, Model 19 (Copy 2), Model 20, 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31546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TEC Committee (ቴክኒክ ኮሚቴ)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5387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Specialists inspecting specs, testing items, signing Form TEC-01.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68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Form TEC-01, Model 19 (Box 2)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89120" y="31546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PAO (የንብረት ኃላፊ)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26280" y="35387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Designates TEC, conducts final requisition approval, authorizes Model 19 GRN.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2628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Model 19 (Box 3), Model 20, 23, 26, 27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31546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Accountant / Finance (የሂሳብ ባለሙያ)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83880" y="35387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Audits Model 19 Copy 1 White against supplier bills; performs FIFO reconciliations.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183880" y="4206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Model 19 (Copy 1), Model 21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47548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846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Security Gate Officer (የበር ጥበቃ)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Inspects dispatched goods against approved Model 20 SIV at campus gates.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68680" y="5806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Model 20 Gate Pass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0" y="47548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4846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Asset Officer (የንብረት ምዝገባ)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2628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Assigns unique barcode tags to fixed assets, records employee custody.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5806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Model 25 Asset Register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46720" y="4754880"/>
            <a:ext cx="33832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83880" y="4846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C57"/>
                </a:solidFill>
              </a:rPr>
              <a:t>System Admin (የስርዓት አስተዳዳሪ)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83880" y="5138928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Manages users, roles, stores, units, categories, and system audit logs.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3880" y="5806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</a:rPr>
              <a:t>Authorized: Master Settings &amp; 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1: Inward Receiving &amp; Provisional Voucher (RCV)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57"/>
                </a:solidFill>
              </a:rPr>
              <a:t>Step 1: Physical Delivery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Supplier arrives at university warehouse with delivery note, PO, and goods consignment.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Step 2: Quarantine Entry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Storekeeper counts parcels, inspects outer packages, and enters receipt details in the system.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</a:rPr>
              <a:t>Step 3: Provisional Voucher (RCV)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System issues Provisional Receiving Voucher (ጊዜያዊ የዕቃ መቀበያ ሰነድ). Items placed in Quarantine Bay.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Step 4: Statutory Compliance Rule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Under Federal Directive 1095/2017, stock is strictly NOT posted to stock ledger until TEC inspects &amp; PAO approves.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2: Multi-Member TEC Inspection &amp; Dossier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57"/>
                </a:solidFill>
              </a:rPr>
              <a:t>Phase A: PAO Committee Designation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PAO selects qualified specialists (engineers, lab experts, IT) to inspect the technical specifications.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Phase B: Independent Technical Testing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Assigned committee members inspect physical items, verify serial numbers, check manufacturer manuals, and conduct live tests.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</a:rPr>
              <a:t>Phase C: Form TEC-01 Submission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Each member submits an independent evaluation record on Form TEC-01 with detailed inspection observations.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Phase D: Consensus Calculation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All assigned members must vote. If all approve -&gt; status becomes EVALUATED. If any member rejects -&gt; flagged for return to vendor.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3: PAO Approval &amp; 4-Copy Model 19 GRN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Copy 1: White (ነጭ)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Sent to Finance / Accounts Directorate to audit supplier invoices and authorize payment disbursements.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CA8A0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13F12"/>
                </a:solidFill>
              </a:rPr>
              <a:t>Copy 2: Canary Yellow (ቢጫ)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Received by Storekeeper as statutory legal authorization to unquarantine items and write into Bin &amp; Stock Cards.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BFDBFE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Copy 3: Light Blue (ሰማያዊ)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Retained by Property Administration Officer (PAO) in permanent institutional archive pad for audits.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BBF7D0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532D"/>
                </a:solidFill>
              </a:rPr>
              <a:t>Copy 4: Light Green (አረንጓዴ)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Transmitted to the Supplier as official proof of goods delivery, inspection acceptance, and institutional ownership.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4: Perpetual Stock Cards &amp; Bin Cards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C57"/>
                </a:solidFill>
              </a:rPr>
              <a:t>Stock Card — ሞዴል 21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Maintains perpetual institutional stock ledger per item and warehouse.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Records every transaction: Receipts (+), Issues (-), Returns (+), and Transfers (+/-).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Tracks running financial valuation using First-In-First-Out (FIFO) costing.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Reconciled continuously with the University Finance General Ledger.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Prevents discrepancies during internal and external audit reviews.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Bin Card — ሞዴል 22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Maintained physically and digitally inside warehouse storage aisles.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Tracks exact storage location coordinates: Area -&gt; Rack -&gt; Shelf -&gt; Bin.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Records batch numbers, manufacturing dates, and expiration milestones for perishables.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Updated immediately whenever storekeeper physically shelves or picks items.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• Used during physical inventory stocktaking for physical-to-card reconciliation.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5: Material Requisition &amp; Dual Approval (Model 23)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57"/>
                </a:solidFill>
              </a:rPr>
              <a:t>Step 1: Department Staff Request (ጠያቂ)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Staff fills online Store Requisition (ሞዴል 23), specifying items, requested quantities, and academic/operational justifications.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Step 2: Department Head Endorsement (የክፍል ኃላፊ)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Department Head checks request against quarterly departmental budget and project deliverables. Approves or returns for revision.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</a:rPr>
              <a:t>Step 3: PAO Institutional Quota Approval (የንብረት ኃላፊ)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PAO conducts institutional check: verifies store inventory, checks user consumption quota, and approves final allocation quantity.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Step 4: Dispatch Queue Routing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System locks allocated quantity and instantly sends authorized dispatch ticket to Storekeeper's issuing queue.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6: Store Issue Voucher (SIV) &amp; Gate Control (Model 20)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57"/>
                </a:solidFill>
              </a:rPr>
              <a:t>Store Issue Voucher (ሞዴል 20 - SIV)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Storekeeper picks physical goods from bins, verifies batch/serial numbers, prints Model 20 SIV. Recipient employee signs for custody. Inventory is deducted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Fixed Asset Custody Binding (ሞዴል 25)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If the issued item is a capitalized fixed asset (e.g. laptop, lab microscope), the system automatically binds the barcode tag to the recipient's employee profile in Model 25.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9377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AA520"/>
                </a:solidFill>
              </a:rPr>
              <a:t>Gate Pass &amp; Security Clearance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Security officers at campus gates inspect outgoing vehicles and items against the digital Model 20 SIV, logging vehicle plate numbers and driver identity before departure.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7: Property Returns, Transfers &amp; Disposals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57"/>
                </a:solidFill>
              </a:rPr>
              <a:t>Property Return Voucher — ሞዴል 24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For unutilized items or employee departure clearance. Submitted with TEC technical condition evaluation: Serviceable (returned to store), Repairable (sent to maintenance), or Condemned.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1546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766E"/>
                </a:solidFill>
              </a:rPr>
              <a:t>Inter-Store Transfer Voucher — ሞዴል 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7490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Authorizes transfer of inventory between university campus stores. Tracks dual-confirmation: 'Transferred-Out' and 'Received-In' ensuring no stock disappears in transit.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9377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AA520"/>
                </a:solidFill>
              </a:rPr>
              <a:t>Property Disposal Register — ሞዴል 27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34924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Governs obsolete, damaged, or expired assets. Governed by the Institutional Disposal Committee for public auction, donation, or approved destruction with accounting write-offs.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WORKFLOW 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Stock Operation 8: Physical Counting &amp; Stocktaking Reconciliation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57"/>
                </a:solidFill>
              </a:rPr>
              <a:t>1. Stocktaking Session Freeze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Annual/quarterly counting committee freezes warehouse movements and conducts blind physical counts per bin location.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8036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2. Variance Analysis Calculation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System automatically compares physical counts against perpetual stock records, calculating Surpluses (+) and Deficits (-).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A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69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AA520"/>
                </a:solidFill>
              </a:rPr>
              <a:t>3. Audit Review &amp; Reconciliation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4348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Internal Audit and PAO investigate variance causes (shrinkage, damaged items, clerical errors) and authorize adjustment entries.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52578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4. Statutory Audit Sign-off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562356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Generates official Stocktaking Report for submission to Ministry of Finance and Federal Auditor General.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AA520"/>
                </a:solidFill>
              </a:rPr>
              <a:t>OUTCOMES &amp;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C57"/>
                </a:solidFill>
              </a:rPr>
              <a:t>Institutional Impact on ASTU &amp; Internship Professional Learnings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</a:rPr>
              <a:t>Institutional Impact for ASTU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100% compliance with Federal Directive No. 1095/2017.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Zero uninspected goods posted to active inventory.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Strict separation of duties between PAO, TEC, and Storekeeper.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Instant audit readiness for Federal Auditor General (OFAG).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✓ Substantial cost savings and elimination of paper document loss.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</a:rPr>
              <a:t>Internship Engineering Takeaways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1945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★ Translating complex legal and statutory directives into software business rules.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★ Designing relational enterprise data models with Prisma ORM &amp; PostgreSQL.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★ Building production-grade, print-ready bilingual government documents.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★ Debugging complex asynchronous state management and transactional APIs.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5486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★ Mastering real-world collaborative full-stack engineering practices.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82880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28346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AA520"/>
                </a:solidFill>
              </a:rPr>
              <a:t>Adama Science &amp; Technology University (ASTU)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DAA520"/>
                </a:solidFill>
              </a:rPr>
              <a:t>Automated Stock &amp; Property Management System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1879</Words>
  <Application>Microsoft Office PowerPoint</Application>
  <PresentationFormat>Widescreen</PresentationFormat>
  <Paragraphs>193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ermias nigusie</cp:lastModifiedBy>
  <cp:revision>1</cp:revision>
  <dcterms:created xsi:type="dcterms:W3CDTF">2026-09-18T21:44:25Z</dcterms:created>
  <dcterms:modified xsi:type="dcterms:W3CDTF">2026-09-18T21:53:17Z</dcterms:modified>
</cp:coreProperties>
</file>