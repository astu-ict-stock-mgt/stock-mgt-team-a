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C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9B27"/>
                </a:solidFill>
              </a:rPr>
              <a:t>ADAMA SCIENCE &amp; TECHNOLOGY UNIVERSITY (ASTU)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Automated Institutional Stock &amp; Property Management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CBD5E1"/>
                </a:solidFill>
              </a:rPr>
              <a:t>Comprehensive Operational Workflows, Technical Architecture, Role Matrix</a:t>
            </a:r>
            <a:endParaRPr lang="en-US" sz="18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800" dirty="0">
                <a:solidFill>
                  <a:srgbClr val="CBD5E1"/>
                </a:solidFill>
              </a:rPr>
              <a:t>&amp; Internship Implementation Report (Directive No. 1095/2017)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9B27"/>
                </a:solidFill>
              </a:rPr>
              <a:t>Presenter: ICT &amp; Software Engineering Intern  |  Host Directorate: ICT &amp; Property Administration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EXECUTIVE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Presentation Scope &amp;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1. The Statutory Mandate &amp; ASTU Background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Understanding university property management challenges and the legal requirements of Federal Directive No. 1095/2017.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2. How the System Was Built (Technical Architecture)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In-depth look at the technology stack: React 18, TypeScript, Node.js, Express, Prisma ORM, and PostgreSQL database.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3. My Duties &amp; Engineering Contributions as an Intern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Key modules built: 4-Copy Model 19 GRN engine, Multi-Member TEC committee workflow, Provisional Voucher (RCV), and bug elimination.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9B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9B27"/>
                </a:solidFill>
              </a:rPr>
              <a:t>4. Step-by-Step Operations &amp; User Role Matrix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Granular walkthrough of all 8 stock operations and how each of the 9 user roles interacts with the system.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ASTU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The Traditional Property Management Crisis in Universities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1B1B"/>
                </a:solidFill>
              </a:rPr>
              <a:t>Operational &amp; Control Breakdown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Uninspected Inventory Entry: Goods unloaded by suppliers were shelved or used before formal technical verification.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Separation of Duties Breaches: Property administrators were conducting inspections themselves without qualified engineers.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Lost Carbon Paper Trail: Multi-copy paper forms (Model 19, 20) were misplaced, delaying supplier payments and audits.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Zero Real-Time Visibility: Management had no instant data on warehouse stock levels or asset custodians.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2C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C57"/>
                </a:solidFill>
              </a:rPr>
              <a:t>Severe Institutional Consequences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OFAG Audit Findings: Regular audit citations from the Federal Auditor General regarding untracked university assets.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Financial Discrepancies: Valuation gaps between physical warehouse stock and the University Finance General Ledger.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Asset Shrinkage &amp; Loss: Laptops, lab equipment, and chemicals leaving campus without verified gate clearance.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Supplier Friction: Delayed payments due to lost receiving vouchers and manual signature bottlenecks.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REGULATORY COMPLIANCE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Statutory Legal Foundation: Federal Directive No. 1095/2017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Federal Directive No. 1095/2017 (የፌዴራል መንግሥት የንብረት አስተዳደር መመሪያ)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Issued by the FDRE Ministry of Finance to standardize public property acquisition, receipt, storage, issuance, transfer, and disposal across all federal budgetary institutions.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91B1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1B1B"/>
                </a:solidFill>
              </a:rPr>
              <a:t>Mandatory Separation of Functional Duties (የሥራ ድርሻ ክፍፍል)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Statutory mandate strictly forbidding the Property Administration Officer (PAO) or Storekeeper from acting as technical inspectors. Inspections MUST be conducted by an independent committee.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Strict Prohibition of Uninspected Stock Posting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No goods can be written to the stock ledger, given a Model 19, or mixed with active inventory before passing formal technical inspection and PAO authorization.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9B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9B27"/>
                </a:solidFill>
              </a:rPr>
              <a:t>Official Federal Standardized Model Forms (ሞዴሎች)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Prescribes the exact structure, distribution, and archival sequence for Models 19, 20, 21, 22, 23, 24, 25, 26, and 27.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SYSTEM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The Automated Solution: Core Institutional Pillars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D74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46C"/>
                </a:solidFill>
              </a:rPr>
              <a:t>Core Functional Pillars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100% Federal Directive Compliance: Encoding statutory procedural rules directly into software workflow guards.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End-to-End Asset Lifecycle: Tracking goods from supplier truck delivery to employee custody and final asset disposal.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4-Copy Carbonless Digital Paperwork: Role-tinted printouts mimicking official Ministry of Finance pads.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Automated Separation of Duties: Enforcing role boundaries through cryptographically verified JWT RBAC.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</a:rPr>
              <a:t>Measurable Benefits for ASTU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Instant Audit Readiness: Fully traceable digital audit log for every transaction, receipt, and approval.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Perpetual FIFO Stock Valuation: Live balance synchronization with university accounting ledgers.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Paperless Efficiency: Faster requisition approvals, automated notifications, and zero lost paperwork.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Campus Security Integrity: Digital gate pass integration linking physical dispatch directly to vehicle numbers.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High-Level System Architecture &amp; Layered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Presentation Layer (React 18 + TypeScript + Vite)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Modern single-page application (SPA), modular Vanilla CSS design tokens, bilingual English/Amharic UI, role-tailored dashboards, and print-ready document engines.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API Gateway &amp; Security Layer (Express.js + JWT)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Stateless RESTful API gateway, JWT token verification, BCrypt password hashing, Helmet security headers, CORS allow-listing, rate limiting, and RBAC middleware.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Business Domain Logic Layer (Node.js Service Modules)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Discrete transactional domain services: GRN processing, multi-member committee voting consensus, FIFO cost calculation, stock reservation, and audit event dispatchers.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9B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9B27"/>
                </a:solidFill>
              </a:rPr>
              <a:t>Data Persistence Layer (Prisma ORM 5 + PostgreSQL)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Type-safe database abstraction, ACID transactional boundaries ($transaction), 45 interconnected relational entity tables, and automated schema migration management.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Technology Stack: Why These Tools Were Chosen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D4E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4ED8"/>
                </a:solidFill>
              </a:rPr>
              <a:t>Frontend Technology Stack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React 18: Component-driven architecture allowing reusable document viewers, modals, and tables.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TypeScript: Strict compile-time type checking preventing null reference crashes and schema mismatches.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Vite: Ultra-fast Hot Module Replacement (HMR) and optimized production bundle building.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Vanilla CSS Design Tokens: Maximum flexibility for pixel-perfect federal print media layouts without Tailwind bloat.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2C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C57"/>
                </a:solidFill>
              </a:rPr>
              <a:t>Backend &amp; Database Stack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Node.js (v20+): Non-blocking asynchronous event loop ideal for high-concurrency university operations.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Express.js: Lightweight, battle-tested REST API framework with modular route controllers.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Prisma ORM 5: Type-safe database queries, schema-driven migrations, and atomic transaction guarantees.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PostgreSQL: Enterprise-grade relational database with ACID guarantees, JSONB support, and strict constraints.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Database Design: 45 Relational Entities &amp; ACID Safety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GoodsReceipt &amp; MaterialEvaluation Tables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Tracks deliveries from `PENDING_EVALUATION` to `EVALUATED` and `APPROVED`. Linked to Form TEC-01 inspection votes and committee consensus records.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GoodsReceivedNote (Model 19 GRN) &amp; StockLedger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Immutable official GRN records linked to perpetual Stock Cards (Model 21). Maintains running on-hand quantities and FIFO purchase batches.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StoreRequisition (Model 23) &amp; StoreIssueVoucher (Model 20)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Manages dual-stage approval workflows (Dept Head -&gt; PAO) and locks stock allocations before physical picking and dispatch.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9B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9B27"/>
                </a:solidFill>
              </a:rPr>
              <a:t>FixedAsset (Model 25) &amp; Custody Assignment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Maintains capitalized property master records with barcode serials, depreciation schedules, and employee custodian bindings.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SECURITY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Security &amp; Role-Based Access Control (RBAC)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D74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46C"/>
                </a:solidFill>
              </a:rPr>
              <a:t>Authentication &amp; Security Controls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Stateless JWT Tokens: User identity, assigned roles, and permissions cryptographically signed into HTTP headers.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BCrypt Salted Hashing: Enterprise-standard credential protection with work factor salt rounds.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Helmet HTTP Headers: Hardening against Cross-Site Scripting (XSS), Clickjacking, and MIME-type sniffing.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Rate Limiting &amp; CORS: Restricting API traffic strictly to authorized campus subnets and clients.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2C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C57"/>
                </a:solidFill>
              </a:rPr>
              <a:t>Fine-Grained RBAC Governance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Principle of Least Privilege: Every user account is strictly bound to authorized actions and forms.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Context-Aware Authorization: Middleware verifies if a user has rights for a specific status transition (e.g. PAO approving GRN).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Zero Role Overlap: Storekeepers cannot evaluate goods; TEC members cannot approve requisitions.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Immutable Audit Logs: Every sensitive write operation logs the user ID, timestamp, IP address, and payload delta.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INTERN DUTIES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My Internship Role &amp; Project Responsibilities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1. Federal Compliance &amp; Statutory Business Logic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Analyzed Federal Directive No. 1095/2017 with university property officers and translated legal clauses into strict software state transitions.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2. Front-to-Back Engineering of Federal Model Forms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Engineered authentic, print-ready digital models including the 4-Copy Model 19, Form TEC-01, Model 20 SIV, and Provisional RCV.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3. Multi-Member Committee Inspection Engine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Re-architected the technical evaluation workflow to support independent voting and automated consensus calculation.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9B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9B27"/>
                </a:solidFill>
              </a:rPr>
              <a:t>4. Full-Stack Debugging &amp; System Stabilization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Investigated and eliminated runtime crashes, optimized database transactional services, and enforced end-to-end type safety.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INTERN 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My Engineering Contribution 1: 4-Copy Model 19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59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9B27"/>
                </a:solidFill>
              </a:rPr>
              <a:t>The Statutory 4-Color Architecture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Copy 1: White (ነጭ) - Automatically selected for Finance/Accounts to audit invoices and authorize bank payments.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Copy 2: Canary Yellow (ቢጫ) - Automatically routed to the Storekeeper as statutory authority to shelve items.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Copy 3: Light Blue (ሰማያዊ) - Bound into the PAO permanent register pad for institutional audit defense.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Copy 4: Light Green (አረንጓዴ) - Transmitted to the Supplier as legal receipt of goods transfer.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2C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C57"/>
                </a:solidFill>
              </a:rPr>
              <a:t>Technical Implementation Details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Role-Based Detection: The UI automatically detects the logged-in role and displays their statutory tinted copy.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Bilingual Government Header: Official ASTU emblem, Ministry reference, and 3 bordered signature blocks.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Currency Spelling Engine: Converts numerical amounts into English and Amharic words (e.g. 'One Thousand Birr').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Dual Print Modes: Allows one-click printing of the active tinted copy or batch printing the full 4-page booklet.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INTERN 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My Engineering Contribution 2: Multi-Member TEC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91B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1B1B"/>
                </a:solidFill>
              </a:rPr>
              <a:t>The Pre-Existing Flaw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Previously, the system only allowed a single user to click 'Approve/Reject' without recording technical inspection parameters, creating severe audit exposure.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Multi-Specialist Designation by PAO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Built interface allowing the PAO to assign multiple committee members (e.g. 3 engineers) based on consignment specialization.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Independent Member-by-Member Inspection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Each designated member logs into Material Evaluation, verifies technical specifications against the PO, and submits Form TEC-01.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Automated Consensus Engine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System tracks voting progress (e.g. '2/3 Submitted'). When all members finish, if all accept -&gt; EVALUATED; if any reject -&gt; REJECTED with notes.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INTERN 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My Engineering Contribution 3: Provisional Inward Voucher (RCV)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991B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1B1B"/>
                </a:solidFill>
              </a:rPr>
              <a:t>The Pre-Existing Workflow Breach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Previously, storekeepers generated a Model 19 GRN immediately upon carrier drop-off.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This caused uninspected items to be immediately posted to active stock cards and university accounting books.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If the items failed inspection days later, the accounting ledger was already corrupted.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This violated Article 42 of Federal Directive No. 1095/2017.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</a:rPr>
              <a:t>My Solution: The RCV Quarantine State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Introduced the Provisional Inward Receiving Voucher (ጊዜያዊ የዕቃ መቀበያ ሰነድ - RCV).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When goods arrive, storekeeper generates RCV-YYYYMMDD-XXXX confirming physical receipt only.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Watermarked: 'ምርመራ ያልተደረገለት ጊዜያዊ ሰነድ' (Provisional Receipt — Stock NOT posted).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Stock cards remain completely untouched until PAO authorizes Model 19 post-inspection.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INTERN CONTRIBUTIONS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My Engineering Contribution 4: Full-Stack Bug Fixing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Resolved Material Evaluation White-Screen Crash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Diagnosed runtime crashes when clicking 'View Detail'. Fixed Prisma Decimal serialization issues and undefined property accesses across nested relations.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Transactional Backend Services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Refactored `evaluation.service.js` and `grn.service.js` to execute stock updates within Prisma `$transaction` blocks, eliminating partial writes.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Strict Type Alignment Across Client &amp; Server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Updated `types/index.ts` and API service wrappers to enforce consistent typing for committee votes, GRN copies, and stock balances.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Zero TypeScript Compilation Errors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Executed `npx tsc --noEmit` clean compile validations across all frontend screens and components.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USER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System User Roles: The 9 Authorized Actors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1. Operational Demand Stakeholders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Requester (ጠያቂ - submits material needs) and Department Head (የክፍል ኃላፊ - reviews and endorses budget justification).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2. Warehouse &amp; Custody Stakeholders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Storekeeper (የመጋዘን ኃላፊ - unloads, manages quarantine, bin cards, and SIV dispatch).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9B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9B27"/>
                </a:solidFill>
              </a:rPr>
              <a:t>3. Inspection &amp; Governance Stakeholders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Technical Evaluation Committee (ቴክኒክ ኮሚቴ - conducts technical testing) and PAO (የንብረት ኃላፊ - central authorization authority).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4. Control &amp; Administrative Stakeholders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Finance Accountant (audits invoices), Security Guard (gate pass verification), Asset Officer (capital tagging), and System Admin.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USER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User Roles: Requester (ጠያቂ) &amp; Dept Head (የክፍል ኃላፊ)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2C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C57"/>
                </a:solidFill>
              </a:rPr>
              <a:t>Requester (ጠያቂ - Department Staff)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Primary Task: Submits online Store Material Requisitions (ሞዴል 23) for operational supplies.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System Actions: Browses approved catalog items, enters required quantities, attaches project justification.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Tracking: Monitors live approval progress from Dept Head to PAO to Storekeeper dispatch.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Legal Role: Signs custody acknowledgment on Model 20 SIV upon physical receipt of items.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D74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46C"/>
                </a:solidFill>
              </a:rPr>
              <a:t>Department Head (የክፍል ኃላፊ)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Primary Task: First-level gatekeeper validating departmental resource consumption.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System Actions: Reviews incoming Model 23 requisitions against quarterly departmental work plans.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Decision Rights: Endorses requested quantities, reduces excessive requests, or rejects with explanation.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Legal Role: Confirms the items are strictly required for university academic or research duties.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USER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User Roles: Storekeeper (መጋዘን ኃላፊ) &amp; TEC (ቴክኒክ ኮሚቴ)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59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9B27"/>
                </a:solidFill>
              </a:rPr>
              <a:t>Storekeeper (የመጋዘን ኃላፊ)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Receiving: Unloads supplier trucks, counts packages, and issues Provisional Inward Vouchers (RCV).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Storage Authority: Receives Copy 2 Yellow Model 19 from PAO to unquarantine items and shelve in bins.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Stock Records: Posts movements to Bin Cards (Model 22) and coordinates with Stock Cards (Model 21).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Dispatch: Picks items, generates Model 20 SIV, verifies recipient ID, and releases stock.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1B1B"/>
                </a:solidFill>
              </a:rPr>
              <a:t>Technical Evaluation Committee (TEC)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Composition: Subject-matter specialists (engineers, lab experts, IT analysts) appointed by PAO.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Mandate: Unboxes items, conducts functional tests, and inspects specs against Purchase Order.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System Actions: Submits independent inspection findings on Form TEC-01.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Consensus: Votes Accept, Reject, or Conditional with mandatory technical observations.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USER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User Roles: PAO (የንብረት ኃላፊ) &amp; Accountant (የሂሳብ ሹም)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2C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C57"/>
                </a:solidFill>
              </a:rPr>
              <a:t>Property Admin Officer (PAO - የንብረት ኃላፊ)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TEC Appointment: Designates qualified committee members based on consignment technical category.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GRN Authorization: Performs final statutory approval on Model 19 GRN post-inspection.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Requisition Approval: Conducts Level-2 institutional quota checks on Model 23 requests.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Property Governance: Oversees inter-store transfers (Model 26) and property disposals (Model 27).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</a:rPr>
              <a:t>Finance / Accounts Officer (የሂሳብ ባለሙያ)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Invoice Audit: Receives Copy 1 White Model 19 to verify supplier delivery against commercial invoice.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Disbursement Clearing: Authorizes bank transfers to suppliers only after valid Model 19 audit.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Inventory Accounting: Reconciles perpetual Stock Card (Model 21) valuations with General Ledger.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Year-End Audit: Validates FIFO inventory values for the Federal Auditor General (OFAG).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USER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User Roles: Security Gate, Asset Officer &amp; System Admin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1069848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228600" cy="1325880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C57"/>
                </a:solidFill>
              </a:rPr>
              <a:t>Security / Gate Officer (የበር ጥበቃ)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2402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Perimeter control officer at campus gates. Inspects outgoing vehicles against digital Model 20 SIVs, confirms vehicle plate number and driver identity before stamping exit.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246120"/>
            <a:ext cx="228600" cy="1325880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46C"/>
                </a:solidFill>
              </a:rPr>
              <a:t>Asset Management Officer (የቋሚ ንብረት ምዝገባ)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794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Registers capitalized institutional property (computers, lab machinery, vehicles), generates barcode tags, records serial numbers, and maintains Model 25 Fixed Asset Register.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800600"/>
            <a:ext cx="1069848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800600"/>
            <a:ext cx="228600" cy="1325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</a:rPr>
              <a:t>System Administrator (የስርዓት አስተዳዳሪ)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5349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Governs platform user accounts, assigns system roles, configures university stores, item categories, measurement units, and monitors immutable security audit logs.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OPERATIONAL WORKFLOWS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Master Overview: The 8 Core Stock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2C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C57"/>
                </a:solidFill>
              </a:rPr>
              <a:t>Inward &amp; Storage Operations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Operation 1: Goods Inward Receiving &amp; Quarantine (RCV)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Operation 2: Multi-Member TEC Technical Inspection (Form TEC-01)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Operation 3: PAO Authorization &amp; 4-Copy Model 19 GRN Issuance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Operation 4: Warehouse Bin Cards (Model 22) &amp; Stock Cards (Model 21)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D74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46C"/>
                </a:solidFill>
              </a:rPr>
              <a:t>Outward, Custody &amp; Audit Operations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Operation 5: Store Requisition &amp; Dual Approval (Model 23)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Operation 6: Store Issue Voucher (SIV - Model 20) &amp; Gate Pass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Operation 7: Property Returns (M24), Transfers (M26) &amp; Disposals (M27)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Operation 8: Physical Stocktaking &amp; Inventory Reconciliation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OPERATION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Stock Operation 1: Goods Receiving &amp; Quarantine Walkthrough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Step 1: Supplier Carrier Arrival at Warehouse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Supplier vehicle arrives at university central warehouse with delivery note, commercial invoice, and Purchase Order (PO) contract reference.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Step 2: External Package Inspection &amp; Count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Storekeeper counts outer packages, inspects shipping seals for transit damage, and logs carrier driver details.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Step 3: Recording Delivery in Stock Receiving Module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Storekeeper enters consignment into the system, matching PO line items. Consignment status set to PENDING_EVALUATION.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9B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9B27"/>
                </a:solidFill>
              </a:rPr>
              <a:t>Step 4: Provisional Voucher (RCV) Issuance &amp; Quarantine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System generates Provisional Inward Voucher (ጊዜያዊ የዕቃ መቀበያ ሰነድ). Goods locked in quarantine bay. Zero stock ledger impact.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OPERATION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Operation 1 Deep Dive: The Provisional Inward Voucher (RCV)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C59B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9B27"/>
                </a:solidFill>
              </a:rPr>
              <a:t>Provisional Voucher Attributes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Voucher Identifier: Unique sequential code `RCV-YYYYMMDD-XXXX`.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Statutory Notice: Explicitly stamped 'ጊዜያዊ የዕቃ መቀበያ ሰነድ - በቴክኒክ ኮሚቴ ያልተረጋገጠ' (Provisional Receipt - Uninspected).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Quarantine Enforcement: System prevents items from appearing in store available balances.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Carrier Handover: Printed copy signed by Storekeeper and given to supplier driver as drop-off proof only.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1B1B"/>
                </a:solidFill>
              </a:rPr>
              <a:t>Directive 1095/2017 Safeguards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No Payment Release: Finance department strictly prohibited from paying supplier on RCV.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Segregated Storage: Physical goods must remain in marked quarantine bay until technical clearance.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Zero Premature Issuance: Requisitioners cannot request or receive items currently under RCV status.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Audit Verification: Protects university from acknowledging ownership of damaged or non-compliant deliveries.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OPERATION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Stock Operation 2: Technical Committee Appointment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Step 1: Inward Alert Trigger to PAO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System instantly notifies the Property Administration Officer (PAO) that a new consignment has arrived under RCV quarantine.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Step 2: Consignment Categorization &amp; Specialist Selection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PAO examines the technical nature of items (e.g. computer hardware vs. chemical reagents vs. civil machinery) and opens candidate roster.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Step 3: Designating the Multi-Member Committee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PAO designates 2 or more qualified technical specialists. System records appointment timestamp and sends in-app notifications to members.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9B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9B27"/>
                </a:solidFill>
              </a:rPr>
              <a:t>Step 4: Scheduling Physical Inspection Session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Designated committee members receive inspection docket with attached Purchase Order technical specifications and delivery notes.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OPERATION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Stock Operation 2: Form TEC-01 Inspection &amp; Voting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Step 1: Physical Unboxing &amp; Sampling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Committee members visit quarantine bay. Packages are opened, serial numbers recorded, and user manuals examined.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Step 2: Technical Specification &amp; Functional Testing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Inspectors test item parameters against PO contract specifications (e.g. processor speed, RAM, chemical purity, dimensions).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Step 3: Individual Form TEC-01 Submission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Each member independently logs into Material Evaluation and submits Form TEC-01 recording Acceptance, Rejection, or Deficiencies.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Step 4: Automated Consensus Determination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System aggregates member determinations: 100% Accept -&gt; Status = EVALUATED; Any Rejection -&gt; Status = REJECTED with full dissenting notes.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OPERATION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Operation 2 Deep Dive: Consensus Rules &amp; Rejection Handling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D74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46C"/>
                </a:solidFill>
              </a:rPr>
              <a:t>Automated Consensus Logic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Sequential Independent Voting: Members vote privately without seeing peers' votes to prevent undue influence.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Consensus Threshold: Requires unanimous approval by all designated inspectors for full acceptance.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Partial Acceptance: Committee can accept compliant quantities and reject damaged or non-compliant units.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Form TEC-01 Dossier: Generates official inspection record signed digitally by all committee inspectors.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991B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1B1B"/>
                </a:solidFill>
              </a:rPr>
              <a:t>Rejection &amp; Supplier Return Protocol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Formal Rejection Notice: System generates rejection summary detailing failed technical specifications.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Quarantine Hold: Rejected items locked in warehouse quarantine to prevent accidental mixing.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Procurement Alert: Purchasing Directorate notified to issue supplier cure notice or return consignment.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Zero Financial Liability: University accounts completely protected from fraudulent or defective invoices.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OPERATION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Stock Operation 3: PAO Approval &amp; Model 19 GRN Walkthrough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Step 1: PAO Dossier Review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PAO opens the Evaluated &amp; Model 19 Authorization queue. Reviews complete inspection dossier, Form TEC-01, and supplier delivery notes.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Step 2: Authorize Model 19 (ሞዴል 19 አጽድቅ)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PAO enters institutional budget code, verifies accounting ledger accounts, and submits final statutory authorization.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Step 3: Atomic Stock Card Posting (Prisma $transaction)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System generates official Goods Received Note (GRN-YYYY-XXXXX). Automatically updates perpetual Stock Cards (Model 21) using FIFO costing.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Step 4: 4-Copy Distribution &amp; Storekeeper Alert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System creates the 4 statutory copies. Storekeeper's screen immediately alerts: '🟡 Copy 2 (Storekeeper Yellow) Ready'.</a:t>
            </a:r>
            <a:endParaRPr lang="en-US" sz="1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OPERATION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Operation 3 Deep Dive: The 4-Copy Model 19 Distribution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Copy 1: White (ነጭ) — Finance &amp; Accounts Directorate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Audited by university accountants against commercial bills to authorize supplier payment. Attached to payment voucher.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9B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9B27"/>
                </a:solidFill>
              </a:rPr>
              <a:t>Copy 2: Canary Yellow (ቢጫ) — Storekeeper &amp; Warehouse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Statutory authority for the storekeeper to move goods out of quarantine, shelve into racks, and record into Bin Cards (Model 22).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Copy 3: Light Blue (ሰማያዊ) — Property Administration Officer (PAO)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Retained in the PAO bound permanent register pad. Serves as official institutional defense during Federal Auditor General (OFAG) audits.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Copy 4: Light Green (አረንጓዴ) — Supplier / Vendor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Transmitted to the vendor as official legal receipt confirming goods transfer, technical acceptance, and title handover.</a:t>
            </a:r>
            <a:endParaRPr lang="en-US" sz="14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OPERATION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Stock Operation 4: Stock Cards (M21) &amp; Bin Cards (M22)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2C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C57"/>
                </a:solidFill>
              </a:rPr>
              <a:t>Stock Card (ሞዴል 21 - የስቶክ መቆጣጠሪያ ካርድ)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Perpetual Inventory Ledger: Maintained per item, category, and store location.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Transaction History: Automatically records Receipts (+), Issues (-), Returns (+), and Transfers (+/-).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FIFO Valuation Engine: Tracks purchase cost per batch to compute exact inventory valuation and running averages.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Financial Synchronization: Reconciled continuously with the University Finance General Ledger.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D74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746C"/>
                </a:solidFill>
              </a:rPr>
              <a:t>Bin Card (ሞዴል 22 - የቢን ካርድ)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Physical Warehouse Coordinate: Placed directly on storage racks (Area -&gt; Rack -&gt; Shelf -&gt; Bin).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Perishable Tracking: Records batch numbers, manufacturing dates, and expiration milestones for chemicals.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Immediate Shelf Updates: Storekeeper updates Bin Card when physically moving items in or out.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Physical Audit Tool: Serves as primary verification document during quarterly stocktaking counts.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OPERATION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Stock Operation 5: Store Material Requisition (Model 23)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Step 1: Department Requester Fills Model 23 Online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Staff member browses item catalog, checks available stock, enters requested quantity, and specifies operational or research justification.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Step 2: Level-1 Review by Department Head (የክፍል ኃላፊ)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Department Head verifies necessity against quarterly departmental operational budget. Approves, reduces quantity, or rejects.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Step 3: Level-2 Institutional Review by PAO (የንብረት ኃላፊ)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PAO verifies institutional stock availability, checks historical department consumption quotas, and gives final approval.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Step 4: Stock Reservation &amp; Storekeeper Dispatch Queue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System locks allocated stock quantity and sends authorized dispatch ticket directly to the Storekeeper's issuing queue.</a:t>
            </a:r>
            <a:endParaRPr lang="en-US" sz="1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OPERATION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Stock Operation 6: Store Issue Voucher (Model 20) &amp; Dispatch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Step 1: Storekeeper Physical Picking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Storekeeper views approved requisition, locates items using Bin Card coordinates (Aisle/Rack/Bin), and prepares consignment.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Step 2: Model 20 SIV Generation (የዕቃ ወጪ ሰነድ)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Storekeeper generates official Model 20 SIV, recording dispatched serial numbers and batch numbers. Stock balance deducted automatically.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Step 3: Recipient Employee Custody Acknowledgment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Recipient staff member inspects physical items, verifies serial numbers, and signs the physical or digital Model 20 SIV.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Step 4: Automatic Fixed Asset Binding (Model 25)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If the item is a capital asset (e.g. laptop), the system automatically binds the barcode tag to the recipient employee profile.</a:t>
            </a:r>
            <a:endParaRPr lang="en-US" sz="14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OPERATION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Operation 6 Deep Dive: Campus Gate Pass &amp; Security Verification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2C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C57"/>
                </a:solidFill>
              </a:rPr>
              <a:t>Campus Security Inspection Protocol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Gate Pass Generation: SIV automatically generates digital Gate Pass for items leaving university premises.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Security Officer Scan: Guard at campus perimeter gate inspects items against digital Model 20 record.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Vehicle &amp; Driver Logging: Guard records vehicle plate number, driver identity, and exit timestamp.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Serial Number Verification: High-value assets verified against barcode serials before authorizing gate exit.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</a:rPr>
              <a:t>Loss Prevention &amp; Asset Protection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Zero Unauthorized Exit: No university property allowed through gates without verified digital SIV.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Returnable Item Tracking: Tracks items leaving temporarily for field research or off-campus maintenance.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Perimeter Incident Prevention: Immediate security alerts if unapproved items are presented at security checkpoints.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Audit Trail Integrity: Complete digital record of who transported what property out of campus and when.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OPERATION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Stock Operation 7: Returns (M24), Transfers (M26) &amp; Disposals (M27)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Property Return Voucher (ሞዴል 24 — የዕቃ መመለሻ ሰነድ)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For unutilized materials or employee clearance upon resignation. TEC evaluates condition: Serviceable (restocked), Repairable (sent to workshop), or Condemned.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Inter-Store Transfer Form (ሞዴል 26 — የዕቃ ማስተላለፊያ ቅጽ)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Authorizes inventory movement between university branch stores. Requires dual confirmation: 'Transferred-Out' and 'Received-In' to eliminate transit leakage.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9B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9B27"/>
                </a:solidFill>
              </a:rPr>
              <a:t>Property Disposal Register (ሞዴል 27 — የተወገዱ ንብረቶች መመዝገቢያ)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Governed by Institutional Disposal Committee for obsolete, damaged, or expired assets via public auction, institutional donation, or destruction.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91B1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91B1B"/>
                </a:solidFill>
              </a:rPr>
              <a:t>Financial Write-Off &amp; Asset Register Deregistration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Disposal records update Model 25 Fixed Asset Register and inform Finance Directorate to execute accounting write-offs.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OPERATION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Stock Operation 8: Stocktaking &amp; Physical Reconciliation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Step 1: Warehouse Movement Freeze &amp; Committee Mobilization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Annual or quarterly stocktaking committee appointed. Warehouse transactions locked to establish exact cut-off baseline.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Step 2: Blind Physical Inventory Count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Counting teams record actual physical quantities shelf-by-shelf and bin-by-bin without viewing system book balances.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Step 3: Automated Variance Computation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System compares physical counts against perpetual Stock Cards (Model 21), computing Surpluses (+) and Deficits (-).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653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6534"/>
                </a:solidFill>
              </a:rPr>
              <a:t>Step 4: Audit Investigation &amp; Reconciliation Adjustments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Internal Audit and PAO investigate variance causes (shrinkage, breakage, clerical error) and execute audited adjustment journals.</a:t>
            </a:r>
            <a:endParaRPr lang="en-US" sz="14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INSTITUTIONAL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Institutional Transformation for ASTU Operations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02C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2C57"/>
                </a:solidFill>
              </a:rPr>
              <a:t>Operational &amp; Administrative Gains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100% Federal Directive Compliance: Eradicated statutory compliance breaches across all university stores.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Zero Paper Document Loss: Permanent digital archives with instant reprint capabilities for all federal models.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Accelerated Requisition Cycle: Slashed approval turnaround from days of physical paper routing to minutes.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•  Synchronized Financial Valuation: Real-time FIFO perpetual inventory perfectly matching General Ledger.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665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874520"/>
            <a:ext cx="4617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6534"/>
                </a:solidFill>
              </a:rPr>
              <a:t>Governance &amp; Asset Security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OFAG Audit Protection: Clean, defensible electronic audit logs for the Federal Auditor General and Ministry of Finance.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20040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Strict Separation of Duties: Eliminated administrative overreach through programmatic role enforcement.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37960" y="39319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Asset Accountability: Complete employee custody tracking preventing theft and unaccounted equipment loss.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466344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1E293B"/>
                </a:solidFill>
              </a:rPr>
              <a:t>✓  Multi-Store Transparency: Central administration has live bird's-eye visibility across all branch warehouses.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9B27"/>
                </a:solidFill>
              </a:rPr>
              <a:t>INTERNSHIP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C57"/>
                </a:solidFill>
              </a:rPr>
              <a:t>Key Engineering Learnings &amp; Internship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10698480" cy="228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2C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182880" cy="1024128"/>
          </a:xfrm>
          <a:prstGeom prst="rect">
            <a:avLst/>
          </a:prstGeom>
          <a:solidFill>
            <a:srgbClr val="102C57"/>
          </a:solidFill>
          <a:ln w="12700">
            <a:solidFill>
              <a:srgbClr val="102C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556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C57"/>
                </a:solidFill>
              </a:rPr>
              <a:t>Translating Civil Law into Software Business Logic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Learned how to dissect government procurement directives and federal regulations, translating legal mandates into type-safe code and validation guards.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2816352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D74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816352"/>
            <a:ext cx="182880" cy="1024128"/>
          </a:xfrm>
          <a:prstGeom prst="rect">
            <a:avLst/>
          </a:prstGeom>
          <a:solidFill>
            <a:srgbClr val="0D746C"/>
          </a:solidFill>
          <a:ln w="12700">
            <a:solidFill>
              <a:srgbClr val="0D74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746C"/>
                </a:solidFill>
              </a:rPr>
              <a:t>Enterprise Data Modeling &amp; ACID Reliability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327355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Mastered Prisma ORM and PostgreSQL transactions, ensuring zero orphaned rows, reliable FIFO queues, and multi-user concurrency handling.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31520" y="3986784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86784"/>
            <a:ext cx="182880" cy="102412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09651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Production-Grade Print Engineering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97280" y="4443984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Engineered high-fidelity, pixel-accurate government document print layouts conforming to standard physical paper form specifications.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31520" y="5157216"/>
            <a:ext cx="10698480" cy="102412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59B2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157216"/>
            <a:ext cx="182880" cy="1024128"/>
          </a:xfrm>
          <a:prstGeom prst="rect">
            <a:avLst/>
          </a:prstGeom>
          <a:solidFill>
            <a:srgbClr val="C59B27"/>
          </a:solidFill>
          <a:ln w="12700">
            <a:solidFill>
              <a:srgbClr val="C59B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266944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9B27"/>
                </a:solidFill>
              </a:rPr>
              <a:t>Full-Stack Collaboration &amp; Architectural Thinking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97280" y="5614416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E293B"/>
                </a:solidFill>
              </a:rPr>
              <a:t>Developed practical competence in building scalable RESTful architectures, debugging state lifecycles, and working effectively in team settings.</a:t>
            </a:r>
            <a:endParaRPr lang="en-US" sz="14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02C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651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9B27"/>
                </a:solidFill>
              </a:rPr>
              <a:t>Adama Science &amp; Technology University (ASTU)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C59B27"/>
                </a:solidFill>
              </a:rPr>
              <a:t>Automated Institutional Stock &amp; Property Management System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Active Local Environment: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Frontend Web Client: http://localhost:5173  |  Backend REST API: http://localhost:3001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9377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Now Open for Questions, Committee Review &amp; Live Demonstration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2026-09-18T21:55:09Z</dcterms:created>
  <dcterms:modified xsi:type="dcterms:W3CDTF">2026-09-18T21:55:09Z</dcterms:modified>
</cp:coreProperties>
</file>